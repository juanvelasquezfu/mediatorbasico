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6858000" cy="9144000"/>
  <p:embeddedFontLst>
    <p:embeddedFont>
      <p:font typeface="Alice" panose="020B0604020202020204" charset="0"/>
      <p:regular r:id="rId17"/>
    </p:embeddedFont>
    <p:embeddedFont>
      <p:font typeface="Alice Bold" panose="020B0604020202020204" charset="0"/>
      <p:regular r:id="rId18"/>
    </p:embeddedFont>
    <p:embeddedFont>
      <p:font typeface="Archivo Black" panose="020B0604020202020204" charset="0"/>
      <p:regular r:id="rId19"/>
    </p:embeddedFont>
    <p:embeddedFont>
      <p:font typeface="Arial Bold" panose="020B0604020202020204" charset="0"/>
      <p:regular r:id="rId20"/>
    </p:embeddedFont>
    <p:embeddedFont>
      <p:font typeface="Arial Italics" panose="020B060402020202020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4" d="100"/>
          <a:sy n="44" d="100"/>
        </p:scale>
        <p:origin x="660" y="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s-CO"/>
          </a:p>
        </p:txBody>
      </p:sp>
      <p:sp>
        <p:nvSpPr>
          <p:cNvPr id="3" name="TextBox 3"/>
          <p:cNvSpPr txBox="1"/>
          <p:nvPr/>
        </p:nvSpPr>
        <p:spPr>
          <a:xfrm>
            <a:off x="8944499" y="3171825"/>
            <a:ext cx="8314801" cy="1971675"/>
          </a:xfrm>
          <a:prstGeom prst="rect">
            <a:avLst/>
          </a:prstGeom>
        </p:spPr>
        <p:txBody>
          <a:bodyPr lIns="0" tIns="0" rIns="0" bIns="0" rtlCol="0" anchor="t">
            <a:spAutoFit/>
          </a:bodyPr>
          <a:lstStyle/>
          <a:p>
            <a:pPr algn="l">
              <a:lnSpc>
                <a:spcPts val="7679"/>
              </a:lnSpc>
            </a:pPr>
            <a:r>
              <a:rPr lang="en-US" sz="6399" b="1">
                <a:solidFill>
                  <a:srgbClr val="13501B"/>
                </a:solidFill>
                <a:latin typeface="Arial Bold"/>
                <a:ea typeface="Arial Bold"/>
                <a:cs typeface="Arial Bold"/>
                <a:sym typeface="Arial Bold"/>
              </a:rPr>
              <a:t>PATRÓN DE DISEÑO MEDIATOR</a:t>
            </a:r>
          </a:p>
        </p:txBody>
      </p:sp>
      <p:sp>
        <p:nvSpPr>
          <p:cNvPr id="4" name="TextBox 4"/>
          <p:cNvSpPr txBox="1"/>
          <p:nvPr/>
        </p:nvSpPr>
        <p:spPr>
          <a:xfrm>
            <a:off x="8944499" y="5403395"/>
            <a:ext cx="6071336" cy="838200"/>
          </a:xfrm>
          <a:prstGeom prst="rect">
            <a:avLst/>
          </a:prstGeom>
        </p:spPr>
        <p:txBody>
          <a:bodyPr lIns="0" tIns="0" rIns="0" bIns="0" rtlCol="0" anchor="t">
            <a:spAutoFit/>
          </a:bodyPr>
          <a:lstStyle/>
          <a:p>
            <a:pPr algn="l">
              <a:lnSpc>
                <a:spcPts val="3240"/>
              </a:lnSpc>
            </a:pPr>
            <a:r>
              <a:rPr lang="en-US" sz="2700">
                <a:solidFill>
                  <a:srgbClr val="13501B"/>
                </a:solidFill>
                <a:latin typeface="Arial"/>
                <a:ea typeface="Arial"/>
                <a:cs typeface="Arial"/>
                <a:sym typeface="Arial"/>
              </a:rPr>
              <a:t>PROGRAMACION ORIENTADA A OBJETOS</a:t>
            </a:r>
          </a:p>
        </p:txBody>
      </p:sp>
      <p:sp>
        <p:nvSpPr>
          <p:cNvPr id="5" name="TextBox 5"/>
          <p:cNvSpPr txBox="1"/>
          <p:nvPr/>
        </p:nvSpPr>
        <p:spPr>
          <a:xfrm>
            <a:off x="6832227" y="9239250"/>
            <a:ext cx="10427073" cy="838200"/>
          </a:xfrm>
          <a:prstGeom prst="rect">
            <a:avLst/>
          </a:prstGeom>
        </p:spPr>
        <p:txBody>
          <a:bodyPr lIns="0" tIns="0" rIns="0" bIns="0" rtlCol="0" anchor="t">
            <a:spAutoFit/>
          </a:bodyPr>
          <a:lstStyle/>
          <a:p>
            <a:pPr algn="l">
              <a:lnSpc>
                <a:spcPts val="3240"/>
              </a:lnSpc>
            </a:pPr>
            <a:r>
              <a:rPr lang="en-US" sz="2700" i="1">
                <a:solidFill>
                  <a:srgbClr val="13501B"/>
                </a:solidFill>
                <a:latin typeface="Arial Italics"/>
                <a:ea typeface="Arial Italics"/>
                <a:cs typeface="Arial Italics"/>
                <a:sym typeface="Arial Italics"/>
              </a:rPr>
              <a:t>Luciana Martina Acosta Florez y Juan Esteban Velasquez Fuentes</a:t>
            </a:r>
          </a:p>
          <a:p>
            <a:pPr algn="l">
              <a:lnSpc>
                <a:spcPts val="3240"/>
              </a:lnSpc>
            </a:pPr>
            <a:endParaRPr lang="en-US" sz="2700" i="1">
              <a:solidFill>
                <a:srgbClr val="13501B"/>
              </a:solidFill>
              <a:latin typeface="Arial Italics"/>
              <a:ea typeface="Arial Italics"/>
              <a:cs typeface="Arial Italics"/>
              <a:sym typeface="Arial Itali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s-CO"/>
          </a:p>
        </p:txBody>
      </p:sp>
      <p:sp>
        <p:nvSpPr>
          <p:cNvPr id="3" name="Freeform 3"/>
          <p:cNvSpPr/>
          <p:nvPr/>
        </p:nvSpPr>
        <p:spPr>
          <a:xfrm>
            <a:off x="1028700" y="3539957"/>
            <a:ext cx="6673299" cy="4838142"/>
          </a:xfrm>
          <a:custGeom>
            <a:avLst/>
            <a:gdLst/>
            <a:ahLst/>
            <a:cxnLst/>
            <a:rect l="l" t="t" r="r" b="b"/>
            <a:pathLst>
              <a:path w="6673299" h="4838142">
                <a:moveTo>
                  <a:pt x="0" y="0"/>
                </a:moveTo>
                <a:lnTo>
                  <a:pt x="6673299" y="0"/>
                </a:lnTo>
                <a:lnTo>
                  <a:pt x="6673299" y="4838142"/>
                </a:lnTo>
                <a:lnTo>
                  <a:pt x="0" y="4838142"/>
                </a:lnTo>
                <a:lnTo>
                  <a:pt x="0" y="0"/>
                </a:lnTo>
                <a:close/>
              </a:path>
            </a:pathLst>
          </a:custGeom>
          <a:blipFill>
            <a:blip r:embed="rId3"/>
            <a:stretch>
              <a:fillRect/>
            </a:stretch>
          </a:blipFill>
        </p:spPr>
        <p:txBody>
          <a:bodyPr/>
          <a:lstStyle/>
          <a:p>
            <a:endParaRPr lang="es-CO"/>
          </a:p>
        </p:txBody>
      </p:sp>
      <p:sp>
        <p:nvSpPr>
          <p:cNvPr id="4" name="TextBox 4"/>
          <p:cNvSpPr txBox="1"/>
          <p:nvPr/>
        </p:nvSpPr>
        <p:spPr>
          <a:xfrm>
            <a:off x="1355357" y="1690847"/>
            <a:ext cx="7391698" cy="819150"/>
          </a:xfrm>
          <a:prstGeom prst="rect">
            <a:avLst/>
          </a:prstGeom>
        </p:spPr>
        <p:txBody>
          <a:bodyPr lIns="0" tIns="0" rIns="0" bIns="0" rtlCol="0" anchor="t">
            <a:spAutoFit/>
          </a:bodyPr>
          <a:lstStyle/>
          <a:p>
            <a:pPr algn="l">
              <a:lnSpc>
                <a:spcPts val="6480"/>
              </a:lnSpc>
            </a:pPr>
            <a:r>
              <a:rPr lang="en-US" sz="5400">
                <a:solidFill>
                  <a:srgbClr val="13501B"/>
                </a:solidFill>
                <a:latin typeface="Archivo Black"/>
                <a:ea typeface="Archivo Black"/>
                <a:cs typeface="Archivo Black"/>
                <a:sym typeface="Archivo Black"/>
              </a:rPr>
              <a:t>PROBLEMA INICIAL</a:t>
            </a:r>
          </a:p>
        </p:txBody>
      </p:sp>
      <p:sp>
        <p:nvSpPr>
          <p:cNvPr id="5" name="TextBox 5"/>
          <p:cNvSpPr txBox="1"/>
          <p:nvPr/>
        </p:nvSpPr>
        <p:spPr>
          <a:xfrm>
            <a:off x="8378209" y="3406049"/>
            <a:ext cx="9264122" cy="4419600"/>
          </a:xfrm>
          <a:prstGeom prst="rect">
            <a:avLst/>
          </a:prstGeom>
        </p:spPr>
        <p:txBody>
          <a:bodyPr lIns="0" tIns="0" rIns="0" bIns="0" rtlCol="0" anchor="t">
            <a:spAutoFit/>
          </a:bodyPr>
          <a:lstStyle/>
          <a:p>
            <a:pPr algn="l">
              <a:lnSpc>
                <a:spcPts val="4358"/>
              </a:lnSpc>
              <a:spcBef>
                <a:spcPct val="0"/>
              </a:spcBef>
            </a:pPr>
            <a:r>
              <a:rPr lang="en-US" sz="3631">
                <a:solidFill>
                  <a:srgbClr val="13501B"/>
                </a:solidFill>
                <a:latin typeface="Alice"/>
                <a:ea typeface="Alice"/>
                <a:cs typeface="Alice"/>
                <a:sym typeface="Alice"/>
              </a:rPr>
              <a:t>Cuando varios objetos (colegas) necesitan comunicarse entre sí, es fácil terminar con una red de referencias cruzadas: cada objeto conoce y llama directamente a varios otros. Esto genera un </a:t>
            </a:r>
            <a:r>
              <a:rPr lang="en-US" sz="3631">
                <a:solidFill>
                  <a:srgbClr val="13501B"/>
                </a:solidFill>
                <a:latin typeface="Alice Bold"/>
                <a:ea typeface="Alice Bold"/>
                <a:cs typeface="Alice Bold"/>
                <a:sym typeface="Alice Bold"/>
              </a:rPr>
              <a:t>acoplamiento</a:t>
            </a:r>
            <a:r>
              <a:rPr lang="en-US" sz="3631">
                <a:solidFill>
                  <a:srgbClr val="13501B"/>
                </a:solidFill>
                <a:latin typeface="Alice"/>
                <a:ea typeface="Alice"/>
                <a:cs typeface="Alice"/>
                <a:sym typeface="Alice"/>
              </a:rPr>
              <a:t> en forma de malla (N a N) que crece muy rápido conforme se agregan más objetos, y hace que cualquier cambio en uno afecte a muchos otros.</a:t>
            </a:r>
          </a:p>
        </p:txBody>
      </p:sp>
    </p:spTree>
  </p:cSld>
  <p:clrMapOvr>
    <a:masterClrMapping/>
  </p:clrMapOvr>
  <p:transition>
    <p:push/>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s-CO"/>
          </a:p>
        </p:txBody>
      </p:sp>
      <p:sp>
        <p:nvSpPr>
          <p:cNvPr id="3" name="TextBox 3"/>
          <p:cNvSpPr txBox="1"/>
          <p:nvPr/>
        </p:nvSpPr>
        <p:spPr>
          <a:xfrm>
            <a:off x="1028700" y="1009650"/>
            <a:ext cx="15934475" cy="5357644"/>
          </a:xfrm>
          <a:prstGeom prst="rect">
            <a:avLst/>
          </a:prstGeom>
        </p:spPr>
        <p:txBody>
          <a:bodyPr lIns="0" tIns="0" rIns="0" bIns="0" rtlCol="0" anchor="t">
            <a:spAutoFit/>
          </a:bodyPr>
          <a:lstStyle/>
          <a:p>
            <a:pPr algn="l">
              <a:lnSpc>
                <a:spcPts val="21115"/>
              </a:lnSpc>
            </a:pPr>
            <a:r>
              <a:rPr lang="en-US" sz="17596">
                <a:solidFill>
                  <a:srgbClr val="13501B"/>
                </a:solidFill>
                <a:latin typeface="Archivo Black"/>
                <a:ea typeface="Archivo Black"/>
                <a:cs typeface="Archivo Black"/>
                <a:sym typeface="Archivo Black"/>
              </a:rPr>
              <a:t>PATRÓN MEDIATOR</a:t>
            </a:r>
          </a:p>
        </p:txBody>
      </p:sp>
      <p:sp>
        <p:nvSpPr>
          <p:cNvPr id="4" name="TextBox 4"/>
          <p:cNvSpPr txBox="1"/>
          <p:nvPr/>
        </p:nvSpPr>
        <p:spPr>
          <a:xfrm>
            <a:off x="1028700" y="6687716"/>
            <a:ext cx="15934475" cy="2133600"/>
          </a:xfrm>
          <a:prstGeom prst="rect">
            <a:avLst/>
          </a:prstGeom>
        </p:spPr>
        <p:txBody>
          <a:bodyPr lIns="0" tIns="0" rIns="0" bIns="0" rtlCol="0" anchor="t">
            <a:spAutoFit/>
          </a:bodyPr>
          <a:lstStyle/>
          <a:p>
            <a:pPr algn="l">
              <a:lnSpc>
                <a:spcPts val="4226"/>
              </a:lnSpc>
              <a:spcBef>
                <a:spcPct val="0"/>
              </a:spcBef>
            </a:pPr>
            <a:r>
              <a:rPr lang="en-US" sz="3522">
                <a:solidFill>
                  <a:srgbClr val="13501B"/>
                </a:solidFill>
                <a:latin typeface="Alice"/>
                <a:ea typeface="Alice"/>
                <a:cs typeface="Alice"/>
                <a:sym typeface="Alice"/>
              </a:rPr>
              <a:t>Consiste en introducir un objeto intermediario (el mediador) que concentre toda la lógica de comunicación. Los colegas ya no se conocen entre sí directamente: solo conocen al mediador, y es este quien decide cómo reenviar o coordinar las interacciones.</a:t>
            </a:r>
          </a:p>
        </p:txBody>
      </p:sp>
    </p:spTree>
  </p:cSld>
  <p:clrMapOvr>
    <a:masterClrMapping/>
  </p:clrMapOvr>
  <p:transition>
    <p:push/>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s-CO"/>
          </a:p>
        </p:txBody>
      </p:sp>
      <p:sp>
        <p:nvSpPr>
          <p:cNvPr id="3" name="Freeform 3"/>
          <p:cNvSpPr/>
          <p:nvPr/>
        </p:nvSpPr>
        <p:spPr>
          <a:xfrm>
            <a:off x="12853288" y="2972996"/>
            <a:ext cx="4102754" cy="5738118"/>
          </a:xfrm>
          <a:custGeom>
            <a:avLst/>
            <a:gdLst/>
            <a:ahLst/>
            <a:cxnLst/>
            <a:rect l="l" t="t" r="r" b="b"/>
            <a:pathLst>
              <a:path w="4102754" h="5738118">
                <a:moveTo>
                  <a:pt x="0" y="0"/>
                </a:moveTo>
                <a:lnTo>
                  <a:pt x="4102754" y="0"/>
                </a:lnTo>
                <a:lnTo>
                  <a:pt x="4102754" y="5738117"/>
                </a:lnTo>
                <a:lnTo>
                  <a:pt x="0" y="5738117"/>
                </a:lnTo>
                <a:lnTo>
                  <a:pt x="0" y="0"/>
                </a:lnTo>
                <a:close/>
              </a:path>
            </a:pathLst>
          </a:custGeom>
          <a:blipFill>
            <a:blip r:embed="rId3"/>
            <a:stretch>
              <a:fillRect/>
            </a:stretch>
          </a:blipFill>
        </p:spPr>
        <p:txBody>
          <a:bodyPr/>
          <a:lstStyle/>
          <a:p>
            <a:endParaRPr lang="es-CO"/>
          </a:p>
        </p:txBody>
      </p:sp>
      <p:sp>
        <p:nvSpPr>
          <p:cNvPr id="4" name="TextBox 4"/>
          <p:cNvSpPr txBox="1"/>
          <p:nvPr/>
        </p:nvSpPr>
        <p:spPr>
          <a:xfrm>
            <a:off x="1449191" y="963901"/>
            <a:ext cx="4533900" cy="819150"/>
          </a:xfrm>
          <a:prstGeom prst="rect">
            <a:avLst/>
          </a:prstGeom>
        </p:spPr>
        <p:txBody>
          <a:bodyPr lIns="0" tIns="0" rIns="0" bIns="0" rtlCol="0" anchor="t">
            <a:spAutoFit/>
          </a:bodyPr>
          <a:lstStyle/>
          <a:p>
            <a:pPr algn="l">
              <a:lnSpc>
                <a:spcPts val="6480"/>
              </a:lnSpc>
            </a:pPr>
            <a:r>
              <a:rPr lang="en-US" sz="5400">
                <a:solidFill>
                  <a:srgbClr val="13501B"/>
                </a:solidFill>
                <a:latin typeface="Archivo Black"/>
                <a:ea typeface="Archivo Black"/>
                <a:cs typeface="Archivo Black"/>
                <a:sym typeface="Archivo Black"/>
              </a:rPr>
              <a:t>DEFINICIÓN</a:t>
            </a:r>
          </a:p>
        </p:txBody>
      </p:sp>
      <p:sp>
        <p:nvSpPr>
          <p:cNvPr id="5" name="TextBox 5"/>
          <p:cNvSpPr txBox="1"/>
          <p:nvPr/>
        </p:nvSpPr>
        <p:spPr>
          <a:xfrm>
            <a:off x="1449191" y="2972996"/>
            <a:ext cx="10523362" cy="4593922"/>
          </a:xfrm>
          <a:prstGeom prst="rect">
            <a:avLst/>
          </a:prstGeom>
        </p:spPr>
        <p:txBody>
          <a:bodyPr lIns="0" tIns="0" rIns="0" bIns="0" rtlCol="0" anchor="t">
            <a:spAutoFit/>
          </a:bodyPr>
          <a:lstStyle/>
          <a:p>
            <a:pPr algn="l">
              <a:lnSpc>
                <a:spcPts val="5191"/>
              </a:lnSpc>
              <a:spcBef>
                <a:spcPct val="0"/>
              </a:spcBef>
            </a:pPr>
            <a:r>
              <a:rPr lang="en-US" sz="4326">
                <a:solidFill>
                  <a:srgbClr val="13501B"/>
                </a:solidFill>
                <a:latin typeface="Alice"/>
                <a:ea typeface="Alice"/>
                <a:cs typeface="Alice"/>
                <a:sym typeface="Alice"/>
              </a:rPr>
              <a:t>Mediator es un patrón de comportamiento que define un objeto que encapsula cómo interactúa un conjunto de objetos, promoviendo bajo acoplamiento al evitar que los objetos se refieran explícitamente unos a otros, y permitiendo variar su interacción de forma independiente.</a:t>
            </a:r>
          </a:p>
        </p:txBody>
      </p:sp>
    </p:spTree>
  </p:cSld>
  <p:clrMapOvr>
    <a:masterClrMapping/>
  </p:clrMapOvr>
  <p:transition>
    <p:pu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s-CO"/>
          </a:p>
        </p:txBody>
      </p:sp>
      <p:sp>
        <p:nvSpPr>
          <p:cNvPr id="3" name="Freeform 3"/>
          <p:cNvSpPr/>
          <p:nvPr/>
        </p:nvSpPr>
        <p:spPr>
          <a:xfrm>
            <a:off x="10138127" y="2470804"/>
            <a:ext cx="6061474" cy="6248942"/>
          </a:xfrm>
          <a:custGeom>
            <a:avLst/>
            <a:gdLst/>
            <a:ahLst/>
            <a:cxnLst/>
            <a:rect l="l" t="t" r="r" b="b"/>
            <a:pathLst>
              <a:path w="6061474" h="6248942">
                <a:moveTo>
                  <a:pt x="0" y="0"/>
                </a:moveTo>
                <a:lnTo>
                  <a:pt x="6061474" y="0"/>
                </a:lnTo>
                <a:lnTo>
                  <a:pt x="6061474" y="6248942"/>
                </a:lnTo>
                <a:lnTo>
                  <a:pt x="0" y="6248942"/>
                </a:lnTo>
                <a:lnTo>
                  <a:pt x="0" y="0"/>
                </a:lnTo>
                <a:close/>
              </a:path>
            </a:pathLst>
          </a:custGeom>
          <a:blipFill>
            <a:blip r:embed="rId3"/>
            <a:stretch>
              <a:fillRect/>
            </a:stretch>
          </a:blipFill>
        </p:spPr>
        <p:txBody>
          <a:bodyPr/>
          <a:lstStyle/>
          <a:p>
            <a:endParaRPr lang="es-CO"/>
          </a:p>
        </p:txBody>
      </p:sp>
      <p:sp>
        <p:nvSpPr>
          <p:cNvPr id="4" name="TextBox 4"/>
          <p:cNvSpPr txBox="1"/>
          <p:nvPr/>
        </p:nvSpPr>
        <p:spPr>
          <a:xfrm>
            <a:off x="1449191" y="963901"/>
            <a:ext cx="3924151" cy="819150"/>
          </a:xfrm>
          <a:prstGeom prst="rect">
            <a:avLst/>
          </a:prstGeom>
        </p:spPr>
        <p:txBody>
          <a:bodyPr lIns="0" tIns="0" rIns="0" bIns="0" rtlCol="0" anchor="t">
            <a:spAutoFit/>
          </a:bodyPr>
          <a:lstStyle/>
          <a:p>
            <a:pPr algn="l">
              <a:lnSpc>
                <a:spcPts val="6480"/>
              </a:lnSpc>
            </a:pPr>
            <a:r>
              <a:rPr lang="en-US" sz="5400">
                <a:solidFill>
                  <a:srgbClr val="13501B"/>
                </a:solidFill>
                <a:latin typeface="Archivo Black"/>
                <a:ea typeface="Archivo Black"/>
                <a:cs typeface="Archivo Black"/>
                <a:sym typeface="Archivo Black"/>
              </a:rPr>
              <a:t>OBJETIVO</a:t>
            </a:r>
          </a:p>
        </p:txBody>
      </p:sp>
      <p:sp>
        <p:nvSpPr>
          <p:cNvPr id="5" name="TextBox 5"/>
          <p:cNvSpPr txBox="1"/>
          <p:nvPr/>
        </p:nvSpPr>
        <p:spPr>
          <a:xfrm>
            <a:off x="1217490" y="3031381"/>
            <a:ext cx="7369656" cy="5076825"/>
          </a:xfrm>
          <a:prstGeom prst="rect">
            <a:avLst/>
          </a:prstGeom>
        </p:spPr>
        <p:txBody>
          <a:bodyPr lIns="0" tIns="0" rIns="0" bIns="0" rtlCol="0" anchor="t">
            <a:spAutoFit/>
          </a:bodyPr>
          <a:lstStyle/>
          <a:p>
            <a:pPr algn="l">
              <a:lnSpc>
                <a:spcPts val="5773"/>
              </a:lnSpc>
              <a:spcBef>
                <a:spcPct val="0"/>
              </a:spcBef>
            </a:pPr>
            <a:r>
              <a:rPr lang="en-US" sz="4811">
                <a:solidFill>
                  <a:srgbClr val="13501B"/>
                </a:solidFill>
                <a:latin typeface="Alice"/>
                <a:ea typeface="Alice"/>
                <a:cs typeface="Alice"/>
                <a:sym typeface="Alice"/>
              </a:rPr>
              <a:t>Reducir las dependencias caóticas (muchas a muchas) entre objetos, centralizando y desacoplando la lógica de comunicación en un único punto.</a:t>
            </a:r>
          </a:p>
        </p:txBody>
      </p:sp>
    </p:spTree>
  </p:cSld>
  <p:clrMapOvr>
    <a:masterClrMapping/>
  </p:clrMapOvr>
  <p:transition>
    <p:push/>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s-CO"/>
          </a:p>
        </p:txBody>
      </p:sp>
      <p:sp>
        <p:nvSpPr>
          <p:cNvPr id="3" name="Freeform 3"/>
          <p:cNvSpPr/>
          <p:nvPr/>
        </p:nvSpPr>
        <p:spPr>
          <a:xfrm>
            <a:off x="10733095" y="2527845"/>
            <a:ext cx="6197875" cy="6135896"/>
          </a:xfrm>
          <a:custGeom>
            <a:avLst/>
            <a:gdLst/>
            <a:ahLst/>
            <a:cxnLst/>
            <a:rect l="l" t="t" r="r" b="b"/>
            <a:pathLst>
              <a:path w="6197875" h="6135896">
                <a:moveTo>
                  <a:pt x="0" y="0"/>
                </a:moveTo>
                <a:lnTo>
                  <a:pt x="6197875" y="0"/>
                </a:lnTo>
                <a:lnTo>
                  <a:pt x="6197875" y="6135896"/>
                </a:lnTo>
                <a:lnTo>
                  <a:pt x="0" y="6135896"/>
                </a:lnTo>
                <a:lnTo>
                  <a:pt x="0" y="0"/>
                </a:lnTo>
                <a:close/>
              </a:path>
            </a:pathLst>
          </a:custGeom>
          <a:blipFill>
            <a:blip r:embed="rId3"/>
            <a:stretch>
              <a:fillRect/>
            </a:stretch>
          </a:blipFill>
        </p:spPr>
        <p:txBody>
          <a:bodyPr/>
          <a:lstStyle/>
          <a:p>
            <a:endParaRPr lang="es-CO"/>
          </a:p>
        </p:txBody>
      </p:sp>
      <p:sp>
        <p:nvSpPr>
          <p:cNvPr id="4" name="TextBox 4"/>
          <p:cNvSpPr txBox="1"/>
          <p:nvPr/>
        </p:nvSpPr>
        <p:spPr>
          <a:xfrm>
            <a:off x="1449191" y="963901"/>
            <a:ext cx="5257354" cy="819150"/>
          </a:xfrm>
          <a:prstGeom prst="rect">
            <a:avLst/>
          </a:prstGeom>
        </p:spPr>
        <p:txBody>
          <a:bodyPr lIns="0" tIns="0" rIns="0" bIns="0" rtlCol="0" anchor="t">
            <a:spAutoFit/>
          </a:bodyPr>
          <a:lstStyle/>
          <a:p>
            <a:pPr algn="l">
              <a:lnSpc>
                <a:spcPts val="6480"/>
              </a:lnSpc>
            </a:pPr>
            <a:r>
              <a:rPr lang="en-US" sz="5400">
                <a:solidFill>
                  <a:srgbClr val="13501B"/>
                </a:solidFill>
                <a:latin typeface="Archivo Black"/>
                <a:ea typeface="Archivo Black"/>
                <a:cs typeface="Archivo Black"/>
                <a:sym typeface="Archivo Black"/>
              </a:rPr>
              <a:t>ESTRUCTURA</a:t>
            </a:r>
          </a:p>
        </p:txBody>
      </p:sp>
      <p:sp>
        <p:nvSpPr>
          <p:cNvPr id="5" name="TextBox 5"/>
          <p:cNvSpPr txBox="1"/>
          <p:nvPr/>
        </p:nvSpPr>
        <p:spPr>
          <a:xfrm>
            <a:off x="1028700" y="2518320"/>
            <a:ext cx="9061069" cy="6753225"/>
          </a:xfrm>
          <a:prstGeom prst="rect">
            <a:avLst/>
          </a:prstGeom>
        </p:spPr>
        <p:txBody>
          <a:bodyPr lIns="0" tIns="0" rIns="0" bIns="0" rtlCol="0" anchor="t">
            <a:spAutoFit/>
          </a:bodyPr>
          <a:lstStyle/>
          <a:p>
            <a:pPr algn="l">
              <a:lnSpc>
                <a:spcPts val="4461"/>
              </a:lnSpc>
              <a:spcBef>
                <a:spcPct val="0"/>
              </a:spcBef>
            </a:pPr>
            <a:r>
              <a:rPr lang="en-US" sz="3717">
                <a:solidFill>
                  <a:srgbClr val="13501B"/>
                </a:solidFill>
                <a:latin typeface="Alice Bold"/>
                <a:ea typeface="Alice Bold"/>
                <a:cs typeface="Alice Bold"/>
                <a:sym typeface="Alice Bold"/>
              </a:rPr>
              <a:t>Mediator:</a:t>
            </a:r>
            <a:r>
              <a:rPr lang="en-US" sz="3717">
                <a:solidFill>
                  <a:srgbClr val="13501B"/>
                </a:solidFill>
                <a:latin typeface="Alice"/>
                <a:ea typeface="Alice"/>
                <a:cs typeface="Alice"/>
                <a:sym typeface="Alice"/>
              </a:rPr>
              <a:t> interfaz que declara el método de comunicación (por ejemplo notify()).</a:t>
            </a:r>
          </a:p>
          <a:p>
            <a:pPr algn="l">
              <a:lnSpc>
                <a:spcPts val="4461"/>
              </a:lnSpc>
              <a:spcBef>
                <a:spcPct val="0"/>
              </a:spcBef>
            </a:pPr>
            <a:endParaRPr lang="en-US" sz="3717">
              <a:solidFill>
                <a:srgbClr val="13501B"/>
              </a:solidFill>
              <a:latin typeface="Alice"/>
              <a:ea typeface="Alice"/>
              <a:cs typeface="Alice"/>
              <a:sym typeface="Alice"/>
            </a:endParaRPr>
          </a:p>
          <a:p>
            <a:pPr algn="l">
              <a:lnSpc>
                <a:spcPts val="4461"/>
              </a:lnSpc>
              <a:spcBef>
                <a:spcPct val="0"/>
              </a:spcBef>
            </a:pPr>
            <a:r>
              <a:rPr lang="en-US" sz="3717">
                <a:solidFill>
                  <a:srgbClr val="13501B"/>
                </a:solidFill>
                <a:latin typeface="Alice Bold"/>
                <a:ea typeface="Alice Bold"/>
                <a:cs typeface="Alice Bold"/>
                <a:sym typeface="Alice Bold"/>
              </a:rPr>
              <a:t>ConcreteMediator:</a:t>
            </a:r>
            <a:r>
              <a:rPr lang="en-US" sz="3717">
                <a:solidFill>
                  <a:srgbClr val="13501B"/>
                </a:solidFill>
                <a:latin typeface="Alice"/>
                <a:ea typeface="Alice"/>
                <a:cs typeface="Alice"/>
                <a:sym typeface="Alice"/>
              </a:rPr>
              <a:t> implementa la coordinación real entre colegas concretos.</a:t>
            </a:r>
          </a:p>
          <a:p>
            <a:pPr algn="l">
              <a:lnSpc>
                <a:spcPts val="4461"/>
              </a:lnSpc>
              <a:spcBef>
                <a:spcPct val="0"/>
              </a:spcBef>
            </a:pPr>
            <a:endParaRPr lang="en-US" sz="3717">
              <a:solidFill>
                <a:srgbClr val="13501B"/>
              </a:solidFill>
              <a:latin typeface="Alice"/>
              <a:ea typeface="Alice"/>
              <a:cs typeface="Alice"/>
              <a:sym typeface="Alice"/>
            </a:endParaRPr>
          </a:p>
          <a:p>
            <a:pPr algn="l">
              <a:lnSpc>
                <a:spcPts val="4461"/>
              </a:lnSpc>
              <a:spcBef>
                <a:spcPct val="0"/>
              </a:spcBef>
            </a:pPr>
            <a:r>
              <a:rPr lang="en-US" sz="3717">
                <a:solidFill>
                  <a:srgbClr val="13501B"/>
                </a:solidFill>
                <a:latin typeface="Alice Bold"/>
                <a:ea typeface="Alice Bold"/>
                <a:cs typeface="Alice Bold"/>
                <a:sym typeface="Alice Bold"/>
              </a:rPr>
              <a:t>Colleague:</a:t>
            </a:r>
            <a:r>
              <a:rPr lang="en-US" sz="3717">
                <a:solidFill>
                  <a:srgbClr val="13501B"/>
                </a:solidFill>
                <a:latin typeface="Alice"/>
                <a:ea typeface="Alice"/>
                <a:cs typeface="Alice"/>
                <a:sym typeface="Alice"/>
              </a:rPr>
              <a:t> clase base (abstracta) que guarda una referencia al mediador.</a:t>
            </a:r>
          </a:p>
          <a:p>
            <a:pPr algn="l">
              <a:lnSpc>
                <a:spcPts val="4461"/>
              </a:lnSpc>
              <a:spcBef>
                <a:spcPct val="0"/>
              </a:spcBef>
            </a:pPr>
            <a:endParaRPr lang="en-US" sz="3717">
              <a:solidFill>
                <a:srgbClr val="13501B"/>
              </a:solidFill>
              <a:latin typeface="Alice"/>
              <a:ea typeface="Alice"/>
              <a:cs typeface="Alice"/>
              <a:sym typeface="Alice"/>
            </a:endParaRPr>
          </a:p>
          <a:p>
            <a:pPr algn="l">
              <a:lnSpc>
                <a:spcPts val="4461"/>
              </a:lnSpc>
              <a:spcBef>
                <a:spcPct val="0"/>
              </a:spcBef>
            </a:pPr>
            <a:r>
              <a:rPr lang="en-US" sz="3717">
                <a:solidFill>
                  <a:srgbClr val="13501B"/>
                </a:solidFill>
                <a:latin typeface="Alice Bold"/>
                <a:ea typeface="Alice Bold"/>
                <a:cs typeface="Alice Bold"/>
                <a:sym typeface="Alice Bold"/>
              </a:rPr>
              <a:t>ConcreteColleagueA/B</a:t>
            </a:r>
            <a:r>
              <a:rPr lang="en-US" sz="3717">
                <a:solidFill>
                  <a:srgbClr val="13501B"/>
                </a:solidFill>
                <a:latin typeface="Alice"/>
                <a:ea typeface="Alice"/>
                <a:cs typeface="Alice"/>
                <a:sym typeface="Alice"/>
              </a:rPr>
              <a:t>: colegas concretos que, en vez de llamarse entre sí, notifican al mediador.</a:t>
            </a:r>
          </a:p>
        </p:txBody>
      </p:sp>
    </p:spTree>
  </p:cSld>
  <p:clrMapOvr>
    <a:masterClrMapping/>
  </p:clrMapOvr>
  <p:transition>
    <p:push/>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s-CO"/>
          </a:p>
        </p:txBody>
      </p:sp>
      <p:sp>
        <p:nvSpPr>
          <p:cNvPr id="3" name="Freeform 3"/>
          <p:cNvSpPr/>
          <p:nvPr/>
        </p:nvSpPr>
        <p:spPr>
          <a:xfrm>
            <a:off x="1028700" y="1028700"/>
            <a:ext cx="11297502" cy="7721597"/>
          </a:xfrm>
          <a:custGeom>
            <a:avLst/>
            <a:gdLst/>
            <a:ahLst/>
            <a:cxnLst/>
            <a:rect l="l" t="t" r="r" b="b"/>
            <a:pathLst>
              <a:path w="11297502" h="7721597">
                <a:moveTo>
                  <a:pt x="0" y="0"/>
                </a:moveTo>
                <a:lnTo>
                  <a:pt x="11297502" y="0"/>
                </a:lnTo>
                <a:lnTo>
                  <a:pt x="11297502" y="7721597"/>
                </a:lnTo>
                <a:lnTo>
                  <a:pt x="0" y="7721597"/>
                </a:lnTo>
                <a:lnTo>
                  <a:pt x="0" y="0"/>
                </a:lnTo>
                <a:close/>
              </a:path>
            </a:pathLst>
          </a:custGeom>
          <a:blipFill>
            <a:blip r:embed="rId3"/>
            <a:stretch>
              <a:fillRect/>
            </a:stretch>
          </a:blipFill>
        </p:spPr>
        <p:txBody>
          <a:bodyPr/>
          <a:lstStyle/>
          <a:p>
            <a:endParaRPr lang="es-CO"/>
          </a:p>
        </p:txBody>
      </p:sp>
      <p:sp>
        <p:nvSpPr>
          <p:cNvPr id="4" name="TextBox 4"/>
          <p:cNvSpPr txBox="1"/>
          <p:nvPr/>
        </p:nvSpPr>
        <p:spPr>
          <a:xfrm>
            <a:off x="12803311" y="3373190"/>
            <a:ext cx="5091988" cy="1638300"/>
          </a:xfrm>
          <a:prstGeom prst="rect">
            <a:avLst/>
          </a:prstGeom>
        </p:spPr>
        <p:txBody>
          <a:bodyPr lIns="0" tIns="0" rIns="0" bIns="0" rtlCol="0" anchor="t">
            <a:spAutoFit/>
          </a:bodyPr>
          <a:lstStyle/>
          <a:p>
            <a:pPr algn="l">
              <a:lnSpc>
                <a:spcPts val="6480"/>
              </a:lnSpc>
            </a:pPr>
            <a:r>
              <a:rPr lang="en-US" sz="5400">
                <a:solidFill>
                  <a:srgbClr val="13501B"/>
                </a:solidFill>
                <a:latin typeface="Archivo Black"/>
                <a:ea typeface="Archivo Black"/>
                <a:cs typeface="Archivo Black"/>
                <a:sym typeface="Archivo Black"/>
              </a:rPr>
              <a:t>DIAGRAMA DE CLASES</a:t>
            </a:r>
          </a:p>
        </p:txBody>
      </p:sp>
      <p:sp>
        <p:nvSpPr>
          <p:cNvPr id="5" name="TextBox 5"/>
          <p:cNvSpPr txBox="1"/>
          <p:nvPr/>
        </p:nvSpPr>
        <p:spPr>
          <a:xfrm>
            <a:off x="1028700" y="8886825"/>
            <a:ext cx="10427073" cy="323850"/>
          </a:xfrm>
          <a:prstGeom prst="rect">
            <a:avLst/>
          </a:prstGeom>
        </p:spPr>
        <p:txBody>
          <a:bodyPr lIns="0" tIns="0" rIns="0" bIns="0" rtlCol="0" anchor="t">
            <a:spAutoFit/>
          </a:bodyPr>
          <a:lstStyle/>
          <a:p>
            <a:pPr algn="l">
              <a:lnSpc>
                <a:spcPts val="2520"/>
              </a:lnSpc>
            </a:pPr>
            <a:r>
              <a:rPr lang="en-US" sz="2100" i="1">
                <a:solidFill>
                  <a:srgbClr val="13501B"/>
                </a:solidFill>
                <a:latin typeface="Arial Italics"/>
                <a:ea typeface="Arial Italics"/>
                <a:cs typeface="Arial Italics"/>
                <a:sym typeface="Arial Italics"/>
              </a:rPr>
              <a:t>Estructura en estrella del patrón Mediator. Fuente: Reactive Programming</a:t>
            </a:r>
          </a:p>
        </p:txBody>
      </p:sp>
    </p:spTree>
  </p:cSld>
  <p:clrMapOvr>
    <a:masterClrMapping/>
  </p:clrMapOvr>
  <p:transition>
    <p:push/>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s-CO"/>
          </a:p>
        </p:txBody>
      </p:sp>
      <p:sp>
        <p:nvSpPr>
          <p:cNvPr id="3" name="TextBox 3"/>
          <p:cNvSpPr txBox="1"/>
          <p:nvPr/>
        </p:nvSpPr>
        <p:spPr>
          <a:xfrm>
            <a:off x="1585987" y="1028700"/>
            <a:ext cx="5866358" cy="819150"/>
          </a:xfrm>
          <a:prstGeom prst="rect">
            <a:avLst/>
          </a:prstGeom>
        </p:spPr>
        <p:txBody>
          <a:bodyPr lIns="0" tIns="0" rIns="0" bIns="0" rtlCol="0" anchor="t">
            <a:spAutoFit/>
          </a:bodyPr>
          <a:lstStyle/>
          <a:p>
            <a:pPr algn="l">
              <a:lnSpc>
                <a:spcPts val="6480"/>
              </a:lnSpc>
            </a:pPr>
            <a:r>
              <a:rPr lang="en-US" sz="5400">
                <a:solidFill>
                  <a:srgbClr val="13501B"/>
                </a:solidFill>
                <a:latin typeface="Archivo Black"/>
                <a:ea typeface="Archivo Black"/>
                <a:cs typeface="Archivo Black"/>
                <a:sym typeface="Archivo Black"/>
              </a:rPr>
              <a:t>FORMA DE USO</a:t>
            </a:r>
          </a:p>
        </p:txBody>
      </p:sp>
      <p:sp>
        <p:nvSpPr>
          <p:cNvPr id="4" name="TextBox 4"/>
          <p:cNvSpPr txBox="1"/>
          <p:nvPr/>
        </p:nvSpPr>
        <p:spPr>
          <a:xfrm>
            <a:off x="1120879" y="2647950"/>
            <a:ext cx="15964005" cy="6010275"/>
          </a:xfrm>
          <a:prstGeom prst="rect">
            <a:avLst/>
          </a:prstGeom>
        </p:spPr>
        <p:txBody>
          <a:bodyPr lIns="0" tIns="0" rIns="0" bIns="0" rtlCol="0" anchor="t">
            <a:spAutoFit/>
          </a:bodyPr>
          <a:lstStyle/>
          <a:p>
            <a:pPr algn="l">
              <a:lnSpc>
                <a:spcPts val="4725"/>
              </a:lnSpc>
            </a:pPr>
            <a:r>
              <a:rPr lang="en-US" sz="3937">
                <a:solidFill>
                  <a:srgbClr val="13501B"/>
                </a:solidFill>
                <a:latin typeface="Alice Bold"/>
                <a:ea typeface="Alice Bold"/>
                <a:cs typeface="Alice Bold"/>
                <a:sym typeface="Alice Bold"/>
              </a:rPr>
              <a:t>Interfaces o Clases Abstractas:</a:t>
            </a:r>
            <a:r>
              <a:rPr lang="en-US" sz="3937">
                <a:solidFill>
                  <a:srgbClr val="13501B"/>
                </a:solidFill>
                <a:latin typeface="Alice"/>
                <a:ea typeface="Alice"/>
                <a:cs typeface="Alice"/>
                <a:sym typeface="Alice"/>
              </a:rPr>
              <a:t> Permite cambiar la lógica de coordinación sin tocar los componentes (Colleagues) y facilita hacer pruebas unitarias con componentes falsos (mocks). Es la opción recomendada para proyectos medianos o grandes.</a:t>
            </a:r>
          </a:p>
          <a:p>
            <a:pPr algn="l">
              <a:lnSpc>
                <a:spcPts val="4725"/>
              </a:lnSpc>
            </a:pPr>
            <a:endParaRPr lang="en-US" sz="3937">
              <a:solidFill>
                <a:srgbClr val="13501B"/>
              </a:solidFill>
              <a:latin typeface="Alice"/>
              <a:ea typeface="Alice"/>
              <a:cs typeface="Alice"/>
              <a:sym typeface="Alice"/>
            </a:endParaRPr>
          </a:p>
          <a:p>
            <a:pPr algn="l">
              <a:lnSpc>
                <a:spcPts val="4725"/>
              </a:lnSpc>
            </a:pPr>
            <a:endParaRPr lang="en-US" sz="3937">
              <a:solidFill>
                <a:srgbClr val="13501B"/>
              </a:solidFill>
              <a:latin typeface="Alice"/>
              <a:ea typeface="Alice"/>
              <a:cs typeface="Alice"/>
              <a:sym typeface="Alice"/>
            </a:endParaRPr>
          </a:p>
          <a:p>
            <a:pPr algn="l">
              <a:lnSpc>
                <a:spcPts val="4725"/>
              </a:lnSpc>
            </a:pPr>
            <a:r>
              <a:rPr lang="en-US" sz="3937">
                <a:solidFill>
                  <a:srgbClr val="13501B"/>
                </a:solidFill>
                <a:latin typeface="Alice Bold"/>
                <a:ea typeface="Alice Bold"/>
                <a:cs typeface="Alice Bold"/>
                <a:sym typeface="Alice Bold"/>
              </a:rPr>
              <a:t>Clase concreta: </a:t>
            </a:r>
            <a:r>
              <a:rPr lang="en-US" sz="3937">
                <a:solidFill>
                  <a:srgbClr val="13501B"/>
                </a:solidFill>
                <a:latin typeface="Alice"/>
                <a:ea typeface="Alice"/>
                <a:cs typeface="Alice"/>
                <a:sym typeface="Alice"/>
              </a:rPr>
              <a:t>Genera menos código y menos archivos cuando solo tienes una regla de interacción que no va a cambiar. Es ideal para casos sencillos o componentes aislados (como un único formulario).</a:t>
            </a:r>
          </a:p>
          <a:p>
            <a:pPr algn="ctr">
              <a:lnSpc>
                <a:spcPts val="4725"/>
              </a:lnSpc>
              <a:spcBef>
                <a:spcPct val="0"/>
              </a:spcBef>
            </a:pPr>
            <a:endParaRPr lang="en-US" sz="3937">
              <a:solidFill>
                <a:srgbClr val="13501B"/>
              </a:solidFill>
              <a:latin typeface="Alice"/>
              <a:ea typeface="Alice"/>
              <a:cs typeface="Alice"/>
              <a:sym typeface="Alice"/>
            </a:endParaRPr>
          </a:p>
        </p:txBody>
      </p:sp>
    </p:spTree>
  </p:cSld>
  <p:clrMapOvr>
    <a:masterClrMapping/>
  </p:clrMapOvr>
  <p:transition>
    <p:push/>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s-CO"/>
          </a:p>
        </p:txBody>
      </p:sp>
      <p:sp>
        <p:nvSpPr>
          <p:cNvPr id="3" name="Freeform 3"/>
          <p:cNvSpPr/>
          <p:nvPr/>
        </p:nvSpPr>
        <p:spPr>
          <a:xfrm>
            <a:off x="11907503" y="3556921"/>
            <a:ext cx="4931693" cy="5701379"/>
          </a:xfrm>
          <a:custGeom>
            <a:avLst/>
            <a:gdLst/>
            <a:ahLst/>
            <a:cxnLst/>
            <a:rect l="l" t="t" r="r" b="b"/>
            <a:pathLst>
              <a:path w="4931693" h="5701379">
                <a:moveTo>
                  <a:pt x="0" y="0"/>
                </a:moveTo>
                <a:lnTo>
                  <a:pt x="4931693" y="0"/>
                </a:lnTo>
                <a:lnTo>
                  <a:pt x="4931693" y="5701379"/>
                </a:lnTo>
                <a:lnTo>
                  <a:pt x="0" y="5701379"/>
                </a:lnTo>
                <a:lnTo>
                  <a:pt x="0" y="0"/>
                </a:lnTo>
                <a:close/>
              </a:path>
            </a:pathLst>
          </a:custGeom>
          <a:blipFill>
            <a:blip r:embed="rId3"/>
            <a:stretch>
              <a:fillRect/>
            </a:stretch>
          </a:blipFill>
        </p:spPr>
        <p:txBody>
          <a:bodyPr/>
          <a:lstStyle/>
          <a:p>
            <a:endParaRPr lang="es-CO"/>
          </a:p>
        </p:txBody>
      </p:sp>
      <p:sp>
        <p:nvSpPr>
          <p:cNvPr id="4" name="TextBox 4"/>
          <p:cNvSpPr txBox="1"/>
          <p:nvPr/>
        </p:nvSpPr>
        <p:spPr>
          <a:xfrm>
            <a:off x="1449191" y="963901"/>
            <a:ext cx="8419654" cy="819150"/>
          </a:xfrm>
          <a:prstGeom prst="rect">
            <a:avLst/>
          </a:prstGeom>
        </p:spPr>
        <p:txBody>
          <a:bodyPr lIns="0" tIns="0" rIns="0" bIns="0" rtlCol="0" anchor="t">
            <a:spAutoFit/>
          </a:bodyPr>
          <a:lstStyle/>
          <a:p>
            <a:pPr algn="l">
              <a:lnSpc>
                <a:spcPts val="6480"/>
              </a:lnSpc>
            </a:pPr>
            <a:r>
              <a:rPr lang="en-US" sz="5400">
                <a:solidFill>
                  <a:srgbClr val="13501B"/>
                </a:solidFill>
                <a:latin typeface="Archivo Black"/>
                <a:ea typeface="Archivo Black"/>
                <a:cs typeface="Archivo Black"/>
                <a:sym typeface="Archivo Black"/>
              </a:rPr>
              <a:t>RELACION CON SOLID</a:t>
            </a:r>
          </a:p>
        </p:txBody>
      </p:sp>
      <p:sp>
        <p:nvSpPr>
          <p:cNvPr id="5" name="TextBox 5"/>
          <p:cNvSpPr txBox="1"/>
          <p:nvPr/>
        </p:nvSpPr>
        <p:spPr>
          <a:xfrm>
            <a:off x="1028700" y="2199619"/>
            <a:ext cx="10605210" cy="6689229"/>
          </a:xfrm>
          <a:prstGeom prst="rect">
            <a:avLst/>
          </a:prstGeom>
        </p:spPr>
        <p:txBody>
          <a:bodyPr lIns="0" tIns="0" rIns="0" bIns="0" rtlCol="0" anchor="t">
            <a:spAutoFit/>
          </a:bodyPr>
          <a:lstStyle/>
          <a:p>
            <a:pPr marL="786010" lvl="1" indent="-393005" algn="l">
              <a:lnSpc>
                <a:spcPts val="3822"/>
              </a:lnSpc>
              <a:buFont typeface="Arial"/>
              <a:buChar char="•"/>
            </a:pPr>
            <a:r>
              <a:rPr lang="en-US" sz="3640">
                <a:solidFill>
                  <a:srgbClr val="13501B"/>
                </a:solidFill>
                <a:latin typeface="Alice"/>
                <a:ea typeface="Alice"/>
                <a:cs typeface="Alice"/>
                <a:sym typeface="Alice"/>
              </a:rPr>
              <a:t>SRP: cada colega se concentra en su propia lógica; el mediador asume la responsabilidad exclusiva de coordinar.</a:t>
            </a:r>
          </a:p>
          <a:p>
            <a:pPr algn="l">
              <a:lnSpc>
                <a:spcPts val="3822"/>
              </a:lnSpc>
            </a:pPr>
            <a:endParaRPr lang="en-US" sz="3640">
              <a:solidFill>
                <a:srgbClr val="13501B"/>
              </a:solidFill>
              <a:latin typeface="Alice"/>
              <a:ea typeface="Alice"/>
              <a:cs typeface="Alice"/>
              <a:sym typeface="Alice"/>
            </a:endParaRPr>
          </a:p>
          <a:p>
            <a:pPr marL="786010" lvl="1" indent="-393005" algn="l">
              <a:lnSpc>
                <a:spcPts val="3822"/>
              </a:lnSpc>
              <a:buFont typeface="Arial"/>
              <a:buChar char="•"/>
            </a:pPr>
            <a:r>
              <a:rPr lang="en-US" sz="3640">
                <a:solidFill>
                  <a:srgbClr val="13501B"/>
                </a:solidFill>
                <a:latin typeface="Alice"/>
                <a:ea typeface="Alice"/>
                <a:cs typeface="Alice"/>
                <a:sym typeface="Alice"/>
              </a:rPr>
              <a:t>OCP: se pueden agregar nuevos colegas sin modificar los existentes, siempre que respeten el contrato Colleague.</a:t>
            </a:r>
          </a:p>
          <a:p>
            <a:pPr algn="l">
              <a:lnSpc>
                <a:spcPts val="3822"/>
              </a:lnSpc>
            </a:pPr>
            <a:endParaRPr lang="en-US" sz="3640">
              <a:solidFill>
                <a:srgbClr val="13501B"/>
              </a:solidFill>
              <a:latin typeface="Alice"/>
              <a:ea typeface="Alice"/>
              <a:cs typeface="Alice"/>
              <a:sym typeface="Alice"/>
            </a:endParaRPr>
          </a:p>
          <a:p>
            <a:pPr marL="786010" lvl="1" indent="-393005" algn="l">
              <a:lnSpc>
                <a:spcPts val="3822"/>
              </a:lnSpc>
              <a:buFont typeface="Arial"/>
              <a:buChar char="•"/>
            </a:pPr>
            <a:r>
              <a:rPr lang="en-US" sz="3640">
                <a:solidFill>
                  <a:srgbClr val="13501B"/>
                </a:solidFill>
                <a:latin typeface="Alice"/>
                <a:ea typeface="Alice"/>
                <a:cs typeface="Alice"/>
                <a:sym typeface="Alice"/>
              </a:rPr>
              <a:t>LSP: cualquier colega concreto debe poder sustituirse por otro sin romper el comportamiento esperado por el mediador.</a:t>
            </a:r>
          </a:p>
          <a:p>
            <a:pPr algn="l">
              <a:lnSpc>
                <a:spcPts val="3822"/>
              </a:lnSpc>
            </a:pPr>
            <a:endParaRPr lang="en-US" sz="3640">
              <a:solidFill>
                <a:srgbClr val="13501B"/>
              </a:solidFill>
              <a:latin typeface="Alice"/>
              <a:ea typeface="Alice"/>
              <a:cs typeface="Alice"/>
              <a:sym typeface="Alice"/>
            </a:endParaRPr>
          </a:p>
          <a:p>
            <a:pPr marL="786010" lvl="1" indent="-393005" algn="l">
              <a:lnSpc>
                <a:spcPts val="3822"/>
              </a:lnSpc>
              <a:buFont typeface="Arial"/>
              <a:buChar char="•"/>
            </a:pPr>
            <a:r>
              <a:rPr lang="en-US" sz="3640">
                <a:solidFill>
                  <a:srgbClr val="13501B"/>
                </a:solidFill>
                <a:latin typeface="Alice"/>
                <a:ea typeface="Alice"/>
                <a:cs typeface="Alice"/>
                <a:sym typeface="Alice"/>
              </a:rPr>
              <a:t>DIP: los colegas dependen de la abstracción Mediator, no de una implementación concreta.</a:t>
            </a:r>
          </a:p>
        </p:txBody>
      </p:sp>
    </p:spTree>
  </p:cSld>
  <p:clrMapOvr>
    <a:masterClrMapping/>
  </p:clrMapOvr>
  <p:transition>
    <p:push/>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s-CO"/>
          </a:p>
        </p:txBody>
      </p:sp>
      <p:sp>
        <p:nvSpPr>
          <p:cNvPr id="3" name="Freeform 3"/>
          <p:cNvSpPr/>
          <p:nvPr/>
        </p:nvSpPr>
        <p:spPr>
          <a:xfrm>
            <a:off x="1695425" y="3985091"/>
            <a:ext cx="6108404" cy="4428593"/>
          </a:xfrm>
          <a:custGeom>
            <a:avLst/>
            <a:gdLst/>
            <a:ahLst/>
            <a:cxnLst/>
            <a:rect l="l" t="t" r="r" b="b"/>
            <a:pathLst>
              <a:path w="6108404" h="4428593">
                <a:moveTo>
                  <a:pt x="0" y="0"/>
                </a:moveTo>
                <a:lnTo>
                  <a:pt x="6108403" y="0"/>
                </a:lnTo>
                <a:lnTo>
                  <a:pt x="6108403" y="4428593"/>
                </a:lnTo>
                <a:lnTo>
                  <a:pt x="0" y="4428593"/>
                </a:lnTo>
                <a:lnTo>
                  <a:pt x="0" y="0"/>
                </a:lnTo>
                <a:close/>
              </a:path>
            </a:pathLst>
          </a:custGeom>
          <a:blipFill>
            <a:blip r:embed="rId3"/>
            <a:stretch>
              <a:fillRect/>
            </a:stretch>
          </a:blipFill>
        </p:spPr>
        <p:txBody>
          <a:bodyPr/>
          <a:lstStyle/>
          <a:p>
            <a:endParaRPr lang="es-CO"/>
          </a:p>
        </p:txBody>
      </p:sp>
      <p:sp>
        <p:nvSpPr>
          <p:cNvPr id="4" name="TextBox 4"/>
          <p:cNvSpPr txBox="1"/>
          <p:nvPr/>
        </p:nvSpPr>
        <p:spPr>
          <a:xfrm>
            <a:off x="1449191" y="963901"/>
            <a:ext cx="3619054" cy="819150"/>
          </a:xfrm>
          <a:prstGeom prst="rect">
            <a:avLst/>
          </a:prstGeom>
        </p:spPr>
        <p:txBody>
          <a:bodyPr lIns="0" tIns="0" rIns="0" bIns="0" rtlCol="0" anchor="t">
            <a:spAutoFit/>
          </a:bodyPr>
          <a:lstStyle/>
          <a:p>
            <a:pPr algn="l">
              <a:lnSpc>
                <a:spcPts val="6480"/>
              </a:lnSpc>
            </a:pPr>
            <a:r>
              <a:rPr lang="en-US" sz="5400">
                <a:solidFill>
                  <a:srgbClr val="13501B"/>
                </a:solidFill>
                <a:latin typeface="Archivo Black"/>
                <a:ea typeface="Archivo Black"/>
                <a:cs typeface="Archivo Black"/>
                <a:sym typeface="Archivo Black"/>
              </a:rPr>
              <a:t>EJEMPLO</a:t>
            </a:r>
          </a:p>
        </p:txBody>
      </p:sp>
    </p:spTree>
  </p:cSld>
  <p:clrMapOvr>
    <a:masterClrMapping/>
  </p:clrMapOvr>
  <p:transition>
    <p:push/>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s-CO"/>
          </a:p>
        </p:txBody>
      </p:sp>
      <p:sp>
        <p:nvSpPr>
          <p:cNvPr id="3" name="Freeform 3"/>
          <p:cNvSpPr/>
          <p:nvPr/>
        </p:nvSpPr>
        <p:spPr>
          <a:xfrm>
            <a:off x="12166370" y="3541635"/>
            <a:ext cx="5776913" cy="6017618"/>
          </a:xfrm>
          <a:custGeom>
            <a:avLst/>
            <a:gdLst/>
            <a:ahLst/>
            <a:cxnLst/>
            <a:rect l="l" t="t" r="r" b="b"/>
            <a:pathLst>
              <a:path w="5776913" h="6017618">
                <a:moveTo>
                  <a:pt x="0" y="0"/>
                </a:moveTo>
                <a:lnTo>
                  <a:pt x="5776913" y="0"/>
                </a:lnTo>
                <a:lnTo>
                  <a:pt x="5776913" y="6017618"/>
                </a:lnTo>
                <a:lnTo>
                  <a:pt x="0" y="6017618"/>
                </a:lnTo>
                <a:lnTo>
                  <a:pt x="0" y="0"/>
                </a:lnTo>
                <a:close/>
              </a:path>
            </a:pathLst>
          </a:custGeom>
          <a:blipFill>
            <a:blip r:embed="rId3"/>
            <a:stretch>
              <a:fillRect/>
            </a:stretch>
          </a:blipFill>
        </p:spPr>
        <p:txBody>
          <a:bodyPr/>
          <a:lstStyle/>
          <a:p>
            <a:endParaRPr lang="es-CO"/>
          </a:p>
        </p:txBody>
      </p:sp>
      <p:sp>
        <p:nvSpPr>
          <p:cNvPr id="4" name="TextBox 4"/>
          <p:cNvSpPr txBox="1"/>
          <p:nvPr/>
        </p:nvSpPr>
        <p:spPr>
          <a:xfrm>
            <a:off x="1449191" y="963901"/>
            <a:ext cx="4114800" cy="819150"/>
          </a:xfrm>
          <a:prstGeom prst="rect">
            <a:avLst/>
          </a:prstGeom>
        </p:spPr>
        <p:txBody>
          <a:bodyPr lIns="0" tIns="0" rIns="0" bIns="0" rtlCol="0" anchor="t">
            <a:spAutoFit/>
          </a:bodyPr>
          <a:lstStyle/>
          <a:p>
            <a:pPr algn="l">
              <a:lnSpc>
                <a:spcPts val="6480"/>
              </a:lnSpc>
            </a:pPr>
            <a:r>
              <a:rPr lang="en-US" sz="5400">
                <a:solidFill>
                  <a:srgbClr val="13501B"/>
                </a:solidFill>
                <a:latin typeface="Archivo Black"/>
                <a:ea typeface="Archivo Black"/>
                <a:cs typeface="Archivo Black"/>
                <a:sym typeface="Archivo Black"/>
              </a:rPr>
              <a:t>VENTAJAS</a:t>
            </a:r>
          </a:p>
        </p:txBody>
      </p:sp>
      <p:sp>
        <p:nvSpPr>
          <p:cNvPr id="5" name="TextBox 5"/>
          <p:cNvSpPr txBox="1"/>
          <p:nvPr/>
        </p:nvSpPr>
        <p:spPr>
          <a:xfrm>
            <a:off x="1028700" y="2865181"/>
            <a:ext cx="10586406" cy="5422611"/>
          </a:xfrm>
          <a:prstGeom prst="rect">
            <a:avLst/>
          </a:prstGeom>
        </p:spPr>
        <p:txBody>
          <a:bodyPr lIns="0" tIns="0" rIns="0" bIns="0" rtlCol="0" anchor="t">
            <a:spAutoFit/>
          </a:bodyPr>
          <a:lstStyle/>
          <a:p>
            <a:pPr marL="963026" lvl="1" indent="-481513" algn="l">
              <a:lnSpc>
                <a:spcPts val="5352"/>
              </a:lnSpc>
              <a:buFont typeface="Arial"/>
              <a:buChar char="•"/>
            </a:pPr>
            <a:r>
              <a:rPr lang="en-US" sz="4460">
                <a:solidFill>
                  <a:srgbClr val="13501B"/>
                </a:solidFill>
                <a:latin typeface="Alice"/>
                <a:ea typeface="Alice"/>
                <a:cs typeface="Alice"/>
                <a:sym typeface="Alice"/>
              </a:rPr>
              <a:t>Reduce drásticamente el acoplamiento entre objetos.</a:t>
            </a:r>
          </a:p>
          <a:p>
            <a:pPr marL="963026" lvl="1" indent="-481513" algn="l">
              <a:lnSpc>
                <a:spcPts val="5352"/>
              </a:lnSpc>
              <a:buFont typeface="Arial"/>
              <a:buChar char="•"/>
            </a:pPr>
            <a:r>
              <a:rPr lang="en-US" sz="4460">
                <a:solidFill>
                  <a:srgbClr val="13501B"/>
                </a:solidFill>
                <a:latin typeface="Alice"/>
                <a:ea typeface="Alice"/>
                <a:cs typeface="Alice"/>
                <a:sym typeface="Alice"/>
              </a:rPr>
              <a:t>Centraliza y facilita el mantenimiento de la lógica de interacción.</a:t>
            </a:r>
          </a:p>
          <a:p>
            <a:pPr marL="963026" lvl="1" indent="-481513" algn="l">
              <a:lnSpc>
                <a:spcPts val="5352"/>
              </a:lnSpc>
              <a:buFont typeface="Arial"/>
              <a:buChar char="•"/>
            </a:pPr>
            <a:r>
              <a:rPr lang="en-US" sz="4460">
                <a:solidFill>
                  <a:srgbClr val="13501B"/>
                </a:solidFill>
                <a:latin typeface="Alice"/>
                <a:ea typeface="Alice"/>
                <a:cs typeface="Alice"/>
                <a:sym typeface="Alice"/>
              </a:rPr>
              <a:t>Facilita agregar nuevos colegas sin tocar los ya existentes.</a:t>
            </a:r>
          </a:p>
          <a:p>
            <a:pPr marL="963026" lvl="1" indent="-481513" algn="l">
              <a:lnSpc>
                <a:spcPts val="5352"/>
              </a:lnSpc>
              <a:buFont typeface="Arial"/>
              <a:buChar char="•"/>
            </a:pPr>
            <a:r>
              <a:rPr lang="en-US" sz="4460">
                <a:solidFill>
                  <a:srgbClr val="13501B"/>
                </a:solidFill>
                <a:latin typeface="Alice"/>
                <a:ea typeface="Alice"/>
                <a:cs typeface="Alice"/>
                <a:sym typeface="Alice"/>
              </a:rPr>
              <a:t>Favorece la composición sobre la herencia excesiva.</a:t>
            </a:r>
          </a:p>
        </p:txBody>
      </p:sp>
    </p:spTree>
  </p:cSld>
  <p:clrMapOvr>
    <a:masterClrMapping/>
  </p:clrMapOvr>
  <p:transition>
    <p:pu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s-CO"/>
          </a:p>
        </p:txBody>
      </p:sp>
      <p:sp>
        <p:nvSpPr>
          <p:cNvPr id="3" name="Freeform 3"/>
          <p:cNvSpPr/>
          <p:nvPr/>
        </p:nvSpPr>
        <p:spPr>
          <a:xfrm>
            <a:off x="12477235" y="3714717"/>
            <a:ext cx="5810765" cy="5899254"/>
          </a:xfrm>
          <a:custGeom>
            <a:avLst/>
            <a:gdLst/>
            <a:ahLst/>
            <a:cxnLst/>
            <a:rect l="l" t="t" r="r" b="b"/>
            <a:pathLst>
              <a:path w="5810765" h="5899254">
                <a:moveTo>
                  <a:pt x="0" y="0"/>
                </a:moveTo>
                <a:lnTo>
                  <a:pt x="5810765" y="0"/>
                </a:lnTo>
                <a:lnTo>
                  <a:pt x="5810765" y="5899254"/>
                </a:lnTo>
                <a:lnTo>
                  <a:pt x="0" y="5899254"/>
                </a:lnTo>
                <a:lnTo>
                  <a:pt x="0" y="0"/>
                </a:lnTo>
                <a:close/>
              </a:path>
            </a:pathLst>
          </a:custGeom>
          <a:blipFill>
            <a:blip r:embed="rId3"/>
            <a:stretch>
              <a:fillRect/>
            </a:stretch>
          </a:blipFill>
        </p:spPr>
        <p:txBody>
          <a:bodyPr/>
          <a:lstStyle/>
          <a:p>
            <a:endParaRPr lang="es-CO"/>
          </a:p>
        </p:txBody>
      </p:sp>
      <p:sp>
        <p:nvSpPr>
          <p:cNvPr id="4" name="TextBox 4"/>
          <p:cNvSpPr txBox="1"/>
          <p:nvPr/>
        </p:nvSpPr>
        <p:spPr>
          <a:xfrm>
            <a:off x="1449191" y="963901"/>
            <a:ext cx="5638651" cy="819150"/>
          </a:xfrm>
          <a:prstGeom prst="rect">
            <a:avLst/>
          </a:prstGeom>
        </p:spPr>
        <p:txBody>
          <a:bodyPr lIns="0" tIns="0" rIns="0" bIns="0" rtlCol="0" anchor="t">
            <a:spAutoFit/>
          </a:bodyPr>
          <a:lstStyle/>
          <a:p>
            <a:pPr algn="l">
              <a:lnSpc>
                <a:spcPts val="6480"/>
              </a:lnSpc>
            </a:pPr>
            <a:r>
              <a:rPr lang="en-US" sz="5400">
                <a:solidFill>
                  <a:srgbClr val="13501B"/>
                </a:solidFill>
                <a:latin typeface="Archivo Black"/>
                <a:ea typeface="Archivo Black"/>
                <a:cs typeface="Archivo Black"/>
                <a:sym typeface="Archivo Black"/>
              </a:rPr>
              <a:t>DESVENTAJAS</a:t>
            </a:r>
          </a:p>
        </p:txBody>
      </p:sp>
      <p:sp>
        <p:nvSpPr>
          <p:cNvPr id="5" name="TextBox 5"/>
          <p:cNvSpPr txBox="1"/>
          <p:nvPr/>
        </p:nvSpPr>
        <p:spPr>
          <a:xfrm>
            <a:off x="1202957" y="2834778"/>
            <a:ext cx="10242134" cy="5871767"/>
          </a:xfrm>
          <a:prstGeom prst="rect">
            <a:avLst/>
          </a:prstGeom>
        </p:spPr>
        <p:txBody>
          <a:bodyPr lIns="0" tIns="0" rIns="0" bIns="0" rtlCol="0" anchor="t">
            <a:spAutoFit/>
          </a:bodyPr>
          <a:lstStyle/>
          <a:p>
            <a:pPr marL="928559" lvl="1" indent="-464279" algn="l">
              <a:lnSpc>
                <a:spcPts val="5161"/>
              </a:lnSpc>
              <a:buFont typeface="Arial"/>
              <a:buChar char="•"/>
            </a:pPr>
            <a:r>
              <a:rPr lang="en-US" sz="4300">
                <a:solidFill>
                  <a:srgbClr val="13501B"/>
                </a:solidFill>
                <a:latin typeface="Alice"/>
                <a:ea typeface="Alice"/>
                <a:cs typeface="Alice"/>
                <a:sym typeface="Alice"/>
              </a:rPr>
              <a:t>El mediador puede crecer sin control y convertirse en una "clase Dios" (god object) difícil de mantener.</a:t>
            </a:r>
          </a:p>
          <a:p>
            <a:pPr marL="928559" lvl="1" indent="-464279" algn="l">
              <a:lnSpc>
                <a:spcPts val="5161"/>
              </a:lnSpc>
              <a:buFont typeface="Arial"/>
              <a:buChar char="•"/>
            </a:pPr>
            <a:r>
              <a:rPr lang="en-US" sz="4300">
                <a:solidFill>
                  <a:srgbClr val="13501B"/>
                </a:solidFill>
                <a:latin typeface="Alice"/>
                <a:ea typeface="Alice"/>
                <a:cs typeface="Alice"/>
                <a:sym typeface="Alice"/>
              </a:rPr>
              <a:t>Puede volverse un cuello de botella, ya que concentra mucha lógica y responsabilidad.</a:t>
            </a:r>
          </a:p>
          <a:p>
            <a:pPr marL="928559" lvl="1" indent="-464279" algn="l">
              <a:lnSpc>
                <a:spcPts val="5161"/>
              </a:lnSpc>
              <a:buFont typeface="Arial"/>
              <a:buChar char="•"/>
            </a:pPr>
            <a:r>
              <a:rPr lang="en-US" sz="4300">
                <a:solidFill>
                  <a:srgbClr val="13501B"/>
                </a:solidFill>
                <a:latin typeface="Alice"/>
                <a:ea typeface="Alice"/>
                <a:cs typeface="Alice"/>
                <a:sym typeface="Alice"/>
              </a:rPr>
              <a:t>Puede ocultar la complejidad real del sistema en lugar de reducirla, si no se diseña con cuidado.</a:t>
            </a:r>
          </a:p>
        </p:txBody>
      </p:sp>
    </p:spTree>
  </p:cSld>
  <p:clrMapOvr>
    <a:masterClrMapping/>
  </p:clrMapOvr>
  <p:transition>
    <p:push/>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s-CO"/>
          </a:p>
        </p:txBody>
      </p:sp>
      <p:sp>
        <p:nvSpPr>
          <p:cNvPr id="3" name="TextBox 3"/>
          <p:cNvSpPr txBox="1"/>
          <p:nvPr/>
        </p:nvSpPr>
        <p:spPr>
          <a:xfrm>
            <a:off x="1028700" y="1028700"/>
            <a:ext cx="5142905" cy="819150"/>
          </a:xfrm>
          <a:prstGeom prst="rect">
            <a:avLst/>
          </a:prstGeom>
        </p:spPr>
        <p:txBody>
          <a:bodyPr lIns="0" tIns="0" rIns="0" bIns="0" rtlCol="0" anchor="t">
            <a:spAutoFit/>
          </a:bodyPr>
          <a:lstStyle/>
          <a:p>
            <a:pPr algn="l">
              <a:lnSpc>
                <a:spcPts val="6480"/>
              </a:lnSpc>
            </a:pPr>
            <a:r>
              <a:rPr lang="en-US" sz="5400">
                <a:solidFill>
                  <a:srgbClr val="13501B"/>
                </a:solidFill>
                <a:latin typeface="Archivo Black"/>
                <a:ea typeface="Archivo Black"/>
                <a:cs typeface="Archivo Black"/>
                <a:sym typeface="Archivo Black"/>
              </a:rPr>
              <a:t>CONCLUSIÓN</a:t>
            </a:r>
          </a:p>
        </p:txBody>
      </p:sp>
      <p:sp>
        <p:nvSpPr>
          <p:cNvPr id="4" name="TextBox 4"/>
          <p:cNvSpPr txBox="1"/>
          <p:nvPr/>
        </p:nvSpPr>
        <p:spPr>
          <a:xfrm>
            <a:off x="1778356" y="3171037"/>
            <a:ext cx="14731288" cy="4886325"/>
          </a:xfrm>
          <a:prstGeom prst="rect">
            <a:avLst/>
          </a:prstGeom>
        </p:spPr>
        <p:txBody>
          <a:bodyPr lIns="0" tIns="0" rIns="0" bIns="0" rtlCol="0" anchor="t">
            <a:spAutoFit/>
          </a:bodyPr>
          <a:lstStyle/>
          <a:p>
            <a:pPr algn="l">
              <a:lnSpc>
                <a:spcPts val="5520"/>
              </a:lnSpc>
              <a:spcBef>
                <a:spcPct val="0"/>
              </a:spcBef>
            </a:pPr>
            <a:r>
              <a:rPr lang="en-US" sz="4600">
                <a:solidFill>
                  <a:srgbClr val="13501B"/>
                </a:solidFill>
                <a:latin typeface="Alice"/>
                <a:ea typeface="Alice"/>
                <a:cs typeface="Alice"/>
                <a:sym typeface="Alice"/>
              </a:rPr>
              <a:t>Mediator es muy útil cuando un conjunto de objetos tiene una comunicación compleja,  mejora la mantenibilidad y el desacoplamiento al centralizar esa lógica en un único punto. Sin embargo, hay que vigilar que el mediador no termine absorbiendo demasiadas responsabilidades, porque ahí es donde el patrón puede volverse contraproducente.</a:t>
            </a:r>
          </a:p>
        </p:txBody>
      </p:sp>
    </p:spTree>
  </p:cSld>
  <p:clrMapOvr>
    <a:masterClrMapping/>
  </p:clrMapOvr>
  <p:transition>
    <p:push/>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s-CO"/>
          </a:p>
        </p:txBody>
      </p:sp>
      <p:sp>
        <p:nvSpPr>
          <p:cNvPr id="3" name="TextBox 3"/>
          <p:cNvSpPr txBox="1"/>
          <p:nvPr/>
        </p:nvSpPr>
        <p:spPr>
          <a:xfrm>
            <a:off x="1028700" y="1480129"/>
            <a:ext cx="5410349" cy="819150"/>
          </a:xfrm>
          <a:prstGeom prst="rect">
            <a:avLst/>
          </a:prstGeom>
        </p:spPr>
        <p:txBody>
          <a:bodyPr lIns="0" tIns="0" rIns="0" bIns="0" rtlCol="0" anchor="t">
            <a:spAutoFit/>
          </a:bodyPr>
          <a:lstStyle/>
          <a:p>
            <a:pPr algn="l">
              <a:lnSpc>
                <a:spcPts val="6480"/>
              </a:lnSpc>
            </a:pPr>
            <a:r>
              <a:rPr lang="en-US" sz="5400">
                <a:solidFill>
                  <a:srgbClr val="13501B"/>
                </a:solidFill>
                <a:latin typeface="Archivo Black"/>
                <a:ea typeface="Archivo Black"/>
                <a:cs typeface="Archivo Black"/>
                <a:sym typeface="Archivo Black"/>
              </a:rPr>
              <a:t>REFERENCIAS</a:t>
            </a:r>
          </a:p>
        </p:txBody>
      </p:sp>
      <p:sp>
        <p:nvSpPr>
          <p:cNvPr id="4" name="TextBox 4"/>
          <p:cNvSpPr txBox="1"/>
          <p:nvPr/>
        </p:nvSpPr>
        <p:spPr>
          <a:xfrm>
            <a:off x="1028700" y="2742813"/>
            <a:ext cx="16044535" cy="2466975"/>
          </a:xfrm>
          <a:prstGeom prst="rect">
            <a:avLst/>
          </a:prstGeom>
        </p:spPr>
        <p:txBody>
          <a:bodyPr lIns="0" tIns="0" rIns="0" bIns="0" rtlCol="0" anchor="t">
            <a:spAutoFit/>
          </a:bodyPr>
          <a:lstStyle/>
          <a:p>
            <a:pPr algn="l">
              <a:lnSpc>
                <a:spcPts val="3240"/>
              </a:lnSpc>
              <a:spcBef>
                <a:spcPct val="0"/>
              </a:spcBef>
            </a:pPr>
            <a:r>
              <a:rPr lang="en-US" sz="2700">
                <a:solidFill>
                  <a:srgbClr val="13501B"/>
                </a:solidFill>
                <a:latin typeface="Alice"/>
                <a:ea typeface="Alice"/>
                <a:cs typeface="Alice"/>
                <a:sym typeface="Alice"/>
              </a:rPr>
              <a:t>[1] Reactive Programming, «Patrón de diseño: Mediator,» Reactive Programming Blog. [En línea]. Disponible en: https://reactiveprogramming.io/blog/es/patrones-de-diseno/mediator. [Accedido: sep-2026].</a:t>
            </a:r>
          </a:p>
          <a:p>
            <a:pPr algn="l">
              <a:lnSpc>
                <a:spcPts val="3240"/>
              </a:lnSpc>
              <a:spcBef>
                <a:spcPct val="0"/>
              </a:spcBef>
            </a:pPr>
            <a:r>
              <a:rPr lang="en-US" sz="2700">
                <a:solidFill>
                  <a:srgbClr val="13501B"/>
                </a:solidFill>
                <a:latin typeface="Alice"/>
                <a:ea typeface="Alice"/>
                <a:cs typeface="Alice"/>
                <a:sym typeface="Alice"/>
              </a:rPr>
              <a:t>[2] Refactoring Guru, «Patrones de diseño de software,» Refactoring Guru. [En línea]. Disponible en: https://refactoring.guru/es/design-patterns/. [Accedido: sep-2026].</a:t>
            </a:r>
          </a:p>
          <a:p>
            <a:pPr algn="l">
              <a:lnSpc>
                <a:spcPts val="3240"/>
              </a:lnSpc>
              <a:spcBef>
                <a:spcPct val="0"/>
              </a:spcBef>
            </a:pPr>
            <a:endParaRPr lang="en-US" sz="2700">
              <a:solidFill>
                <a:srgbClr val="13501B"/>
              </a:solidFill>
              <a:latin typeface="Alice"/>
              <a:ea typeface="Alice"/>
              <a:cs typeface="Alice"/>
              <a:sym typeface="Alice"/>
            </a:endParaRPr>
          </a:p>
        </p:txBody>
      </p:sp>
    </p:spTree>
  </p:cSld>
  <p:clrMapOvr>
    <a:masterClrMapping/>
  </p:clrMapOvr>
  <p:transition>
    <p:push/>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s-CO"/>
          </a:p>
        </p:txBody>
      </p:sp>
    </p:spTree>
  </p:cSld>
  <p:clrMapOvr>
    <a:masterClrMapping/>
  </p:clrMapOvr>
  <p:transition>
    <p:push/>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660</Words>
  <Application>Microsoft Office PowerPoint</Application>
  <PresentationFormat>Personalizado</PresentationFormat>
  <Paragraphs>49</Paragraphs>
  <Slides>15</Slides>
  <Notes>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15</vt:i4>
      </vt:variant>
    </vt:vector>
  </HeadingPairs>
  <TitlesOfParts>
    <vt:vector size="23" baseType="lpstr">
      <vt:lpstr>Arial Bold</vt:lpstr>
      <vt:lpstr>Arial</vt:lpstr>
      <vt:lpstr>Alice Bold</vt:lpstr>
      <vt:lpstr>Archivo Black</vt:lpstr>
      <vt:lpstr>Arial Italics</vt:lpstr>
      <vt:lpstr>Calibri</vt:lpstr>
      <vt:lpstr>Alice</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PLANTILLA UCO</dc:title>
  <dc:creator>Sora Kido</dc:creator>
  <cp:lastModifiedBy>Juan Esteban Velasquez Fuentes</cp:lastModifiedBy>
  <cp:revision>1</cp:revision>
  <dcterms:created xsi:type="dcterms:W3CDTF">2006-08-16T00:00:00Z</dcterms:created>
  <dcterms:modified xsi:type="dcterms:W3CDTF">2026-09-24T13:35:06Z</dcterms:modified>
  <dc:identifier>DAHIVlWaOhc</dc:identifier>
</cp:coreProperties>
</file>